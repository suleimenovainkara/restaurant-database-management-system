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83" r:id="rId8"/>
    <p:sldId id="263" r:id="rId9"/>
    <p:sldId id="264" r:id="rId10"/>
    <p:sldId id="273" r:id="rId11"/>
    <p:sldId id="265" r:id="rId12"/>
    <p:sldId id="266" r:id="rId13"/>
    <p:sldId id="267" r:id="rId14"/>
    <p:sldId id="268" r:id="rId15"/>
    <p:sldId id="269" r:id="rId16"/>
    <p:sldId id="270" r:id="rId17"/>
    <p:sldId id="271" r:id="rId18"/>
    <p:sldId id="272" r:id="rId19"/>
    <p:sldId id="274" r:id="rId20"/>
    <p:sldId id="275" r:id="rId21"/>
    <p:sldId id="279" r:id="rId22"/>
    <p:sldId id="276" r:id="rId23"/>
    <p:sldId id="277" r:id="rId24"/>
    <p:sldId id="278" r:id="rId25"/>
    <p:sldId id="280" r:id="rId26"/>
    <p:sldId id="281" r:id="rId27"/>
    <p:sldId id="282" r:id="rId28"/>
    <p:sldId id="284" r:id="rId2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522"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8BE2F8EC-1E71-42A8-B0AE-3DAEDFC679AE}" type="datetimeFigureOut">
              <a:rPr lang="ru-RU" smtClean="0"/>
              <a:t>23.04.2024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F5D2F7-7E97-4C34-9633-8E26DA45415F}"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8BE2F8EC-1E71-42A8-B0AE-3DAEDFC679AE}" type="datetimeFigureOut">
              <a:rPr lang="ru-RU" smtClean="0"/>
              <a:t>23.04.2024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F5D2F7-7E97-4C34-9633-8E26DA45415F}"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8BE2F8EC-1E71-42A8-B0AE-3DAEDFC679AE}" type="datetimeFigureOut">
              <a:rPr lang="ru-RU" smtClean="0"/>
              <a:t>23.04.2024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F5D2F7-7E97-4C34-9633-8E26DA45415F}"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8BE2F8EC-1E71-42A8-B0AE-3DAEDFC679AE}" type="datetimeFigureOut">
              <a:rPr lang="ru-RU" smtClean="0"/>
              <a:t>23.04.2024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CF5D2F7-7E97-4C34-9633-8E26DA45415F}"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8BE2F8EC-1E71-42A8-B0AE-3DAEDFC679AE}" type="datetimeFigureOut">
              <a:rPr lang="ru-RU" smtClean="0"/>
              <a:t>23.04.2024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DCF5D2F7-7E97-4C34-9633-8E26DA45415F}"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8BE2F8EC-1E71-42A8-B0AE-3DAEDFC679AE}" type="datetimeFigureOut">
              <a:rPr lang="ru-RU" smtClean="0"/>
              <a:t>23.04.2024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DCF5D2F7-7E97-4C34-9633-8E26DA45415F}"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8BE2F8EC-1E71-42A8-B0AE-3DAEDFC679AE}" type="datetimeFigureOut">
              <a:rPr lang="ru-RU" smtClean="0"/>
              <a:t>23.04.2024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DCF5D2F7-7E97-4C34-9633-8E26DA45415F}"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8BE2F8EC-1E71-42A8-B0AE-3DAEDFC679AE}" type="datetimeFigureOut">
              <a:rPr lang="ru-RU" smtClean="0"/>
              <a:t>23.04.2024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CF5D2F7-7E97-4C34-9633-8E26DA45415F}"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8BE2F8EC-1E71-42A8-B0AE-3DAEDFC679AE}" type="datetimeFigureOut">
              <a:rPr lang="ru-RU" smtClean="0"/>
              <a:t>23.04.2024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CF5D2F7-7E97-4C34-9633-8E26DA45415F}"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8BE2F8EC-1E71-42A8-B0AE-3DAEDFC679AE}" type="datetimeFigureOut">
              <a:rPr lang="ru-RU" smtClean="0"/>
              <a:t>23.04.2024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F5D2F7-7E97-4C34-9633-8E26DA45415F}"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8BE2F8EC-1E71-42A8-B0AE-3DAEDFC679AE}" type="datetimeFigureOut">
              <a:rPr lang="ru-RU" smtClean="0"/>
              <a:t>23.04.2024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CF5D2F7-7E97-4C34-9633-8E26DA45415F}"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8BE2F8EC-1E71-42A8-B0AE-3DAEDFC679AE}" type="datetimeFigureOut">
              <a:rPr lang="ru-RU" smtClean="0"/>
              <a:t>23.04.2024</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DCF5D2F7-7E97-4C34-9633-8E26DA45415F}"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amazon.com/Sergey-Skudaev/e/B006C09VGG/ref=dp_byline_cont_book_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en-US" i="1" dirty="0"/>
              <a:t>Creation of a Database “Information system automation of restaurant </a:t>
            </a:r>
            <a:r>
              <a:rPr lang="en-US" i="1" dirty="0" smtClean="0"/>
              <a:t>work”</a:t>
            </a:r>
            <a:endParaRPr lang="ru-RU" dirty="0"/>
          </a:p>
        </p:txBody>
      </p:sp>
      <p:sp>
        <p:nvSpPr>
          <p:cNvPr id="3" name="Подзаголовок 2"/>
          <p:cNvSpPr>
            <a:spLocks noGrp="1"/>
          </p:cNvSpPr>
          <p:nvPr>
            <p:ph type="subTitle" idx="1"/>
          </p:nvPr>
        </p:nvSpPr>
        <p:spPr/>
        <p:txBody>
          <a:bodyPr/>
          <a:lstStyle/>
          <a:p>
            <a:r>
              <a:rPr lang="en-US" dirty="0" err="1" smtClean="0"/>
              <a:t>Suleimenova</a:t>
            </a:r>
            <a:r>
              <a:rPr lang="en-US" dirty="0" smtClean="0"/>
              <a:t> </a:t>
            </a:r>
            <a:r>
              <a:rPr lang="en-US" dirty="0" err="1" smtClean="0"/>
              <a:t>Inkara</a:t>
            </a:r>
            <a:endParaRPr lang="ru-RU" dirty="0"/>
          </a:p>
        </p:txBody>
      </p:sp>
    </p:spTree>
    <p:extLst>
      <p:ext uri="{BB962C8B-B14F-4D97-AF65-F5344CB8AC3E}">
        <p14:creationId xmlns:p14="http://schemas.microsoft.com/office/powerpoint/2010/main" val="14813797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55000" lnSpcReduction="20000"/>
          </a:bodyPr>
          <a:lstStyle/>
          <a:p>
            <a:r>
              <a:rPr lang="en-US" dirty="0"/>
              <a:t>In today's world, automation plays a key role in various business areas, including the restaurant segment. From optimizing processes to improving customer service, the introduction of modern information technologies is becoming an integral part of the success of enterprises in the catering industry. In this introduction, we will consider the importance of restaurant business automation, identify its main characteristics and justify the relevance of the chosen topic.</a:t>
            </a:r>
            <a:endParaRPr lang="ru-RU" dirty="0"/>
          </a:p>
          <a:p>
            <a:r>
              <a:rPr lang="en-US" dirty="0"/>
              <a:t> </a:t>
            </a:r>
            <a:endParaRPr lang="ru-RU" dirty="0"/>
          </a:p>
          <a:p>
            <a:r>
              <a:rPr lang="en-US" dirty="0"/>
              <a:t>The topic of this course work is related to the automation of the restaurant business. The subject area covers all aspects of the restaurant's operation, from order management and analysis of purchase data. The software in question is designed to optimize the operation of restaurants of various types and scales.</a:t>
            </a:r>
            <a:endParaRPr lang="ru-RU" dirty="0"/>
          </a:p>
          <a:p>
            <a:r>
              <a:rPr lang="en-US" dirty="0"/>
              <a:t> </a:t>
            </a:r>
            <a:endParaRPr lang="ru-RU" dirty="0"/>
          </a:p>
          <a:p>
            <a:r>
              <a:rPr lang="en-US" dirty="0"/>
              <a:t>The relevance of the research topic is due to the growing competition in the field of public catering and increased demands from consumers. In conditions of fast pace of life and changing customer preferences, restaurant enterprises are forced to look for ways to optimize processes, reduce service time and improve the quality of service.</a:t>
            </a:r>
            <a:endParaRPr lang="ru-RU" dirty="0"/>
          </a:p>
          <a:p>
            <a:r>
              <a:rPr lang="en-US" dirty="0"/>
              <a:t>Thus, this introduction makes it possible to understand the importance of automation of the restaurant business, substantiates the relevance of the research topic, and also defines the purpose and objectives of the course work.</a:t>
            </a:r>
            <a:endParaRPr lang="ru-RU" dirty="0"/>
          </a:p>
          <a:p>
            <a:endParaRPr lang="ru-RU" dirty="0"/>
          </a:p>
        </p:txBody>
      </p:sp>
      <p:sp>
        <p:nvSpPr>
          <p:cNvPr id="2" name="Заголовок 1"/>
          <p:cNvSpPr>
            <a:spLocks noGrp="1"/>
          </p:cNvSpPr>
          <p:nvPr>
            <p:ph type="title"/>
          </p:nvPr>
        </p:nvSpPr>
        <p:spPr/>
        <p:txBody>
          <a:bodyPr/>
          <a:lstStyle/>
          <a:p>
            <a:r>
              <a:rPr lang="en-US" dirty="0" err="1" smtClean="0"/>
              <a:t>Intoduction</a:t>
            </a:r>
            <a:endParaRPr lang="ru-RU" dirty="0"/>
          </a:p>
        </p:txBody>
      </p:sp>
    </p:spTree>
    <p:extLst>
      <p:ext uri="{BB962C8B-B14F-4D97-AF65-F5344CB8AC3E}">
        <p14:creationId xmlns:p14="http://schemas.microsoft.com/office/powerpoint/2010/main" val="11112178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62500" lnSpcReduction="20000"/>
          </a:bodyPr>
          <a:lstStyle/>
          <a:p>
            <a:r>
              <a:rPr lang="en-US" dirty="0"/>
              <a:t>Last name and first name of the customer: Stores the names of customers who visit the restaurant.</a:t>
            </a:r>
            <a:endParaRPr lang="ru-RU" dirty="0"/>
          </a:p>
          <a:p>
            <a:r>
              <a:rPr lang="en-US" dirty="0"/>
              <a:t>Phone number: Records the contact numbers of customers and staff.</a:t>
            </a:r>
            <a:endParaRPr lang="ru-RU" dirty="0"/>
          </a:p>
          <a:p>
            <a:r>
              <a:rPr lang="en-US" dirty="0"/>
              <a:t>Reserved table: Indicates the tables that have been reserved by customers.</a:t>
            </a:r>
            <a:endParaRPr lang="ru-RU" dirty="0"/>
          </a:p>
          <a:p>
            <a:r>
              <a:rPr lang="en-US" dirty="0"/>
              <a:t>The day of the visit: Tracks the date on which customers visit the restaurant.</a:t>
            </a:r>
            <a:endParaRPr lang="ru-RU" dirty="0"/>
          </a:p>
          <a:p>
            <a:r>
              <a:rPr lang="en-US" dirty="0"/>
              <a:t>Last visit date: Stores the data of the customer's last visit.</a:t>
            </a:r>
            <a:endParaRPr lang="ru-RU" dirty="0"/>
          </a:p>
          <a:p>
            <a:r>
              <a:rPr lang="en-US" dirty="0"/>
              <a:t>Online ordering: Indicates whether the order was placed online.</a:t>
            </a:r>
            <a:endParaRPr lang="ru-RU" dirty="0"/>
          </a:p>
          <a:p>
            <a:r>
              <a:rPr lang="en-US" dirty="0"/>
              <a:t>Menu: Represents the menu items available in the restaurant.</a:t>
            </a:r>
            <a:endParaRPr lang="ru-RU" dirty="0"/>
          </a:p>
          <a:p>
            <a:r>
              <a:rPr lang="en-US" dirty="0"/>
              <a:t>Last name and first name of the staff: Records the names of staff members working in the restaurant.</a:t>
            </a:r>
            <a:endParaRPr lang="ru-RU" dirty="0"/>
          </a:p>
          <a:p>
            <a:r>
              <a:rPr lang="en-US" dirty="0"/>
              <a:t>Phone number: Stores the contact numbers of staff.</a:t>
            </a:r>
            <a:endParaRPr lang="ru-RU" dirty="0"/>
          </a:p>
          <a:p>
            <a:r>
              <a:rPr lang="en-US" dirty="0"/>
              <a:t>Job Title: Represents the position or job title of staff members.</a:t>
            </a:r>
            <a:endParaRPr lang="ru-RU" dirty="0"/>
          </a:p>
          <a:p>
            <a:r>
              <a:rPr lang="en-US" dirty="0"/>
              <a:t>Payment method: Represents the different methods of payment available.</a:t>
            </a:r>
            <a:endParaRPr lang="ru-RU" dirty="0"/>
          </a:p>
          <a:p>
            <a:r>
              <a:rPr lang="en-US" dirty="0"/>
              <a:t>Order: Represents the details of orders placed by customers.</a:t>
            </a:r>
            <a:endParaRPr lang="ru-RU" dirty="0"/>
          </a:p>
          <a:p>
            <a:endParaRPr lang="ru-RU" dirty="0"/>
          </a:p>
        </p:txBody>
      </p:sp>
      <p:sp>
        <p:nvSpPr>
          <p:cNvPr id="2" name="Заголовок 1"/>
          <p:cNvSpPr>
            <a:spLocks noGrp="1"/>
          </p:cNvSpPr>
          <p:nvPr>
            <p:ph type="title"/>
          </p:nvPr>
        </p:nvSpPr>
        <p:spPr/>
        <p:txBody>
          <a:bodyPr/>
          <a:lstStyle/>
          <a:p>
            <a:pPr lvl="1" algn="ctr" rtl="0">
              <a:spcBef>
                <a:spcPct val="0"/>
              </a:spcBef>
            </a:pPr>
            <a:r>
              <a:rPr lang="en-US" sz="3200" dirty="0">
                <a:latin typeface="Times New Roman" panose="02020603050405020304" pitchFamily="18" charset="0"/>
                <a:cs typeface="Times New Roman" panose="02020603050405020304" pitchFamily="18" charset="0"/>
              </a:rPr>
              <a:t>Characteristics of the subject area</a:t>
            </a:r>
            <a:r>
              <a:rPr lang="ru-RU" sz="2000" dirty="0"/>
              <a:t/>
            </a:r>
            <a:br>
              <a:rPr lang="ru-RU" sz="2000" dirty="0"/>
            </a:br>
            <a:endParaRPr lang="ru-RU" dirty="0"/>
          </a:p>
        </p:txBody>
      </p:sp>
    </p:spTree>
    <p:extLst>
      <p:ext uri="{BB962C8B-B14F-4D97-AF65-F5344CB8AC3E}">
        <p14:creationId xmlns:p14="http://schemas.microsoft.com/office/powerpoint/2010/main" val="34575292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62500" lnSpcReduction="20000"/>
          </a:bodyPr>
          <a:lstStyle/>
          <a:p>
            <a:pPr lvl="0"/>
            <a:r>
              <a:rPr lang="en-US" dirty="0"/>
              <a:t>Customer table</a:t>
            </a:r>
            <a:endParaRPr lang="ru-RU" dirty="0"/>
          </a:p>
          <a:p>
            <a:pPr marL="0" indent="0">
              <a:buNone/>
            </a:pPr>
            <a:r>
              <a:rPr lang="en-US" dirty="0"/>
              <a:t>Data volume: The customer table is expected to store information about each customer of the restaurant. The amount of data depends on the number of customers who visit the restaurant.</a:t>
            </a:r>
            <a:endParaRPr lang="ru-RU" dirty="0"/>
          </a:p>
          <a:p>
            <a:pPr marL="0" indent="0">
              <a:buNone/>
            </a:pPr>
            <a:r>
              <a:rPr lang="en-US" dirty="0"/>
              <a:t>Data structure: Includes the attributes </a:t>
            </a:r>
            <a:r>
              <a:rPr lang="en-US" dirty="0" err="1"/>
              <a:t>customer_id</a:t>
            </a:r>
            <a:r>
              <a:rPr lang="en-US" dirty="0"/>
              <a:t>, </a:t>
            </a:r>
            <a:r>
              <a:rPr lang="en-US" dirty="0" err="1"/>
              <a:t>first_name</a:t>
            </a:r>
            <a:r>
              <a:rPr lang="en-US" dirty="0"/>
              <a:t>, </a:t>
            </a:r>
            <a:r>
              <a:rPr lang="en-US" dirty="0" err="1"/>
              <a:t>last_name</a:t>
            </a:r>
            <a:r>
              <a:rPr lang="en-US" dirty="0"/>
              <a:t>, phone, </a:t>
            </a:r>
            <a:r>
              <a:rPr lang="en-US" dirty="0" err="1"/>
              <a:t>book_date</a:t>
            </a:r>
            <a:r>
              <a:rPr lang="en-US" dirty="0"/>
              <a:t>, </a:t>
            </a:r>
            <a:r>
              <a:rPr lang="en-US" dirty="0" err="1"/>
              <a:t>visit_day</a:t>
            </a:r>
            <a:r>
              <a:rPr lang="en-US" dirty="0"/>
              <a:t> and </a:t>
            </a:r>
            <a:r>
              <a:rPr lang="en-US" dirty="0" err="1" smtClean="0"/>
              <a:t>last_visit_date</a:t>
            </a:r>
            <a:r>
              <a:rPr lang="kk-KZ" dirty="0" smtClean="0"/>
              <a:t>.</a:t>
            </a:r>
          </a:p>
          <a:p>
            <a:r>
              <a:rPr lang="en-US" dirty="0" smtClean="0"/>
              <a:t>Order Table </a:t>
            </a:r>
          </a:p>
          <a:p>
            <a:pPr marL="0" indent="0">
              <a:buNone/>
            </a:pPr>
            <a:r>
              <a:rPr lang="en-US" dirty="0" smtClean="0"/>
              <a:t>The </a:t>
            </a:r>
            <a:r>
              <a:rPr lang="en-US" dirty="0"/>
              <a:t>amount of data: Depends on the number of orders placed in the restaurant.</a:t>
            </a:r>
            <a:endParaRPr lang="ru-RU" dirty="0"/>
          </a:p>
          <a:p>
            <a:pPr marL="0" indent="0">
              <a:buNone/>
            </a:pPr>
            <a:r>
              <a:rPr lang="en-US" dirty="0"/>
              <a:t>Data structure: Includes order ID, customer ID, staff ID, beverage ID, dish ID, invoice ID and payment ID</a:t>
            </a:r>
            <a:r>
              <a:rPr lang="en-US" dirty="0" smtClean="0"/>
              <a:t>.</a:t>
            </a:r>
          </a:p>
          <a:p>
            <a:pPr lvl="0"/>
            <a:r>
              <a:rPr lang="en-US" dirty="0"/>
              <a:t>Restaurant table</a:t>
            </a:r>
            <a:endParaRPr lang="ru-RU" dirty="0"/>
          </a:p>
          <a:p>
            <a:pPr marL="0" lvl="0" indent="0">
              <a:buNone/>
            </a:pPr>
            <a:r>
              <a:rPr lang="en-US" dirty="0" smtClean="0"/>
              <a:t>The amount of data: The restaurant table</a:t>
            </a:r>
            <a:r>
              <a:rPr lang="en-US" dirty="0"/>
              <a:t> </a:t>
            </a:r>
            <a:r>
              <a:rPr lang="en-US" dirty="0" smtClean="0"/>
              <a:t>is expended to store information about the work of the restaurant. The amount of data depends on the menu, staff. </a:t>
            </a:r>
          </a:p>
          <a:p>
            <a:endParaRPr lang="en-US" dirty="0" smtClean="0"/>
          </a:p>
          <a:p>
            <a:endParaRPr lang="ru-RU" dirty="0"/>
          </a:p>
        </p:txBody>
      </p:sp>
      <p:sp>
        <p:nvSpPr>
          <p:cNvPr id="2" name="Заголовок 1"/>
          <p:cNvSpPr>
            <a:spLocks noGrp="1"/>
          </p:cNvSpPr>
          <p:nvPr>
            <p:ph type="title"/>
          </p:nvPr>
        </p:nvSpPr>
        <p:spPr/>
        <p:txBody>
          <a:bodyPr/>
          <a:lstStyle/>
          <a:p>
            <a:r>
              <a:rPr lang="ru-RU" dirty="0" err="1"/>
              <a:t>Data</a:t>
            </a:r>
            <a:r>
              <a:rPr lang="ru-RU" dirty="0"/>
              <a:t> </a:t>
            </a:r>
            <a:r>
              <a:rPr lang="ru-RU" dirty="0" err="1"/>
              <a:t>volume</a:t>
            </a:r>
            <a:r>
              <a:rPr lang="ru-RU" dirty="0"/>
              <a:t> </a:t>
            </a:r>
            <a:r>
              <a:rPr lang="ru-RU" dirty="0" err="1"/>
              <a:t>and</a:t>
            </a:r>
            <a:r>
              <a:rPr lang="ru-RU" dirty="0"/>
              <a:t> </a:t>
            </a:r>
            <a:r>
              <a:rPr lang="ru-RU" dirty="0" err="1"/>
              <a:t>structure</a:t>
            </a:r>
            <a:endParaRPr lang="ru-RU" dirty="0"/>
          </a:p>
        </p:txBody>
      </p:sp>
    </p:spTree>
    <p:extLst>
      <p:ext uri="{BB962C8B-B14F-4D97-AF65-F5344CB8AC3E}">
        <p14:creationId xmlns:p14="http://schemas.microsoft.com/office/powerpoint/2010/main" val="39186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92500" lnSpcReduction="10000"/>
          </a:bodyPr>
          <a:lstStyle/>
          <a:p>
            <a:pPr marL="342900" lvl="1" indent="-342900">
              <a:buFont typeface="Arial" panose="020B0604020202020204" pitchFamily="34" charset="0"/>
              <a:buChar char="•"/>
            </a:pPr>
            <a:r>
              <a:rPr lang="kk-KZ" dirty="0"/>
              <a:t>ER diagrams (entity-relationship) are a graphical representation of the database structure that displays entities (also known as tables), the attributes of these entities and the relationships between them. They are an important tool for database design, helping developers and analysts better understand the structure of data and the relationships between them</a:t>
            </a:r>
            <a:r>
              <a:rPr lang="en-US" dirty="0" smtClean="0"/>
              <a:t>.</a:t>
            </a:r>
          </a:p>
          <a:p>
            <a:pPr marL="342900" lvl="1" indent="-342900">
              <a:buFont typeface="Arial" panose="020B0604020202020204" pitchFamily="34" charset="0"/>
              <a:buChar char="•"/>
            </a:pPr>
            <a:r>
              <a:rPr lang="kk-KZ" dirty="0"/>
              <a:t>ER diagrams help to visualize the data structure, which simplifies the process of designing and understanding a database, especially when working with more complex systems. They are also used for documentation and communication between development team members and stakeholders.</a:t>
            </a:r>
            <a:endParaRPr lang="ru-RU" dirty="0"/>
          </a:p>
          <a:p>
            <a:pPr marL="342900" lvl="1" indent="-342900">
              <a:buFont typeface="Arial" panose="020B0604020202020204" pitchFamily="34" charset="0"/>
              <a:buChar char="•"/>
            </a:pPr>
            <a:endParaRPr lang="ru-RU" dirty="0"/>
          </a:p>
          <a:p>
            <a:endParaRPr lang="ru-RU" dirty="0"/>
          </a:p>
        </p:txBody>
      </p:sp>
      <p:sp>
        <p:nvSpPr>
          <p:cNvPr id="2" name="Заголовок 1"/>
          <p:cNvSpPr>
            <a:spLocks noGrp="1"/>
          </p:cNvSpPr>
          <p:nvPr>
            <p:ph type="title"/>
          </p:nvPr>
        </p:nvSpPr>
        <p:spPr/>
        <p:txBody>
          <a:bodyPr/>
          <a:lstStyle/>
          <a:p>
            <a:r>
              <a:rPr lang="kk-KZ" dirty="0" smtClean="0"/>
              <a:t>entity-relationship</a:t>
            </a:r>
            <a:r>
              <a:rPr lang="en-US" dirty="0" smtClean="0"/>
              <a:t> diagram</a:t>
            </a:r>
            <a:endParaRPr lang="ru-RU" dirty="0"/>
          </a:p>
        </p:txBody>
      </p:sp>
    </p:spTree>
    <p:extLst>
      <p:ext uri="{BB962C8B-B14F-4D97-AF65-F5344CB8AC3E}">
        <p14:creationId xmlns:p14="http://schemas.microsoft.com/office/powerpoint/2010/main" val="3643875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kk-KZ" dirty="0" smtClean="0"/>
              <a:t>entity-relationship</a:t>
            </a:r>
            <a:r>
              <a:rPr lang="en-US" dirty="0" smtClean="0"/>
              <a:t> diagram</a:t>
            </a:r>
            <a:endParaRPr lang="ru-RU" dirty="0"/>
          </a:p>
        </p:txBody>
      </p:sp>
      <p:pic>
        <p:nvPicPr>
          <p:cNvPr id="5" name="Объект 4"/>
          <p:cNvPicPr>
            <a:picLocks noGrp="1"/>
          </p:cNvPicPr>
          <p:nvPr>
            <p:ph idx="1"/>
          </p:nvPr>
        </p:nvPicPr>
        <p:blipFill>
          <a:blip r:embed="rId2"/>
          <a:stretch>
            <a:fillRect/>
          </a:stretch>
        </p:blipFill>
        <p:spPr>
          <a:xfrm>
            <a:off x="1475656" y="1916832"/>
            <a:ext cx="6342264" cy="4209331"/>
          </a:xfrm>
          <a:prstGeom prst="rect">
            <a:avLst/>
          </a:prstGeom>
        </p:spPr>
      </p:pic>
    </p:spTree>
    <p:extLst>
      <p:ext uri="{BB962C8B-B14F-4D97-AF65-F5344CB8AC3E}">
        <p14:creationId xmlns:p14="http://schemas.microsoft.com/office/powerpoint/2010/main" val="23474452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p:cNvPicPr>
          <p:nvPr>
            <p:ph idx="1"/>
          </p:nvPr>
        </p:nvPicPr>
        <p:blipFill>
          <a:blip r:embed="rId2"/>
          <a:stretch>
            <a:fillRect/>
          </a:stretch>
        </p:blipFill>
        <p:spPr>
          <a:xfrm>
            <a:off x="827584" y="1700808"/>
            <a:ext cx="7344800" cy="3210373"/>
          </a:xfrm>
          <a:prstGeom prst="rect">
            <a:avLst/>
          </a:prstGeom>
        </p:spPr>
      </p:pic>
      <p:sp>
        <p:nvSpPr>
          <p:cNvPr id="2" name="Заголовок 1"/>
          <p:cNvSpPr>
            <a:spLocks noGrp="1"/>
          </p:cNvSpPr>
          <p:nvPr>
            <p:ph type="title"/>
          </p:nvPr>
        </p:nvSpPr>
        <p:spPr/>
        <p:txBody>
          <a:bodyPr>
            <a:normAutofit/>
          </a:bodyPr>
          <a:lstStyle/>
          <a:p>
            <a:pPr lvl="1" algn="ctr"/>
            <a:r>
              <a:rPr lang="en-US" sz="4400" dirty="0">
                <a:latin typeface="+mj-lt"/>
              </a:rPr>
              <a:t>Reduction to normal forms</a:t>
            </a:r>
            <a:endParaRPr lang="ru-RU" sz="4400" dirty="0">
              <a:latin typeface="+mj-lt"/>
            </a:endParaRPr>
          </a:p>
        </p:txBody>
      </p:sp>
      <p:sp>
        <p:nvSpPr>
          <p:cNvPr id="5" name="Прямоугольник 4"/>
          <p:cNvSpPr/>
          <p:nvPr/>
        </p:nvSpPr>
        <p:spPr>
          <a:xfrm>
            <a:off x="1187624" y="5157192"/>
            <a:ext cx="7344816" cy="646331"/>
          </a:xfrm>
          <a:prstGeom prst="rect">
            <a:avLst/>
          </a:prstGeom>
        </p:spPr>
        <p:txBody>
          <a:bodyPr wrap="square">
            <a:spAutoFit/>
          </a:bodyPr>
          <a:lstStyle/>
          <a:p>
            <a:r>
              <a:rPr lang="en-US" dirty="0"/>
              <a:t>Description of a data structure in first normal form</a:t>
            </a:r>
            <a:endParaRPr lang="ru-RU" dirty="0"/>
          </a:p>
          <a:p>
            <a:r>
              <a:rPr lang="en-US" dirty="0"/>
              <a:t> </a:t>
            </a:r>
            <a:endParaRPr lang="ru-RU" dirty="0"/>
          </a:p>
        </p:txBody>
      </p:sp>
    </p:spTree>
    <p:extLst>
      <p:ext uri="{BB962C8B-B14F-4D97-AF65-F5344CB8AC3E}">
        <p14:creationId xmlns:p14="http://schemas.microsoft.com/office/powerpoint/2010/main" val="2274801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r>
              <a:rPr lang="en-US" dirty="0"/>
              <a:t>The transition from an ER model (entity-relationship) to database schemas is the process of converting a conceptual data model, represented as an ER diagram, into a physical database structure, that is, a set of tables, relationships, and constraints that implement this model.</a:t>
            </a:r>
            <a:endParaRPr lang="ru-RU" dirty="0"/>
          </a:p>
          <a:p>
            <a:endParaRPr lang="ru-RU" dirty="0"/>
          </a:p>
        </p:txBody>
      </p:sp>
      <p:sp>
        <p:nvSpPr>
          <p:cNvPr id="2" name="Заголовок 1"/>
          <p:cNvSpPr>
            <a:spLocks noGrp="1"/>
          </p:cNvSpPr>
          <p:nvPr>
            <p:ph type="title"/>
          </p:nvPr>
        </p:nvSpPr>
        <p:spPr/>
        <p:txBody>
          <a:bodyPr>
            <a:noAutofit/>
          </a:bodyPr>
          <a:lstStyle/>
          <a:p>
            <a:pPr lvl="1" algn="ctr" rtl="0">
              <a:spcBef>
                <a:spcPct val="0"/>
              </a:spcBef>
            </a:pPr>
            <a:r>
              <a:rPr lang="en-US" sz="4400" dirty="0">
                <a:latin typeface="+mj-lt"/>
              </a:rPr>
              <a:t>Moving from the ER model to database </a:t>
            </a:r>
            <a:r>
              <a:rPr lang="en-US" sz="4400" dirty="0" smtClean="0">
                <a:latin typeface="+mj-lt"/>
              </a:rPr>
              <a:t>schemas</a:t>
            </a:r>
            <a:endParaRPr lang="ru-RU" sz="4400" dirty="0">
              <a:latin typeface="+mj-lt"/>
            </a:endParaRPr>
          </a:p>
        </p:txBody>
      </p:sp>
    </p:spTree>
    <p:extLst>
      <p:ext uri="{BB962C8B-B14F-4D97-AF65-F5344CB8AC3E}">
        <p14:creationId xmlns:p14="http://schemas.microsoft.com/office/powerpoint/2010/main" val="1676918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85000" lnSpcReduction="20000"/>
          </a:bodyPr>
          <a:lstStyle/>
          <a:p>
            <a:r>
              <a:rPr lang="en-US" dirty="0"/>
              <a:t>A total of 10 tables were received: customers, tables, reserved table, dish, drink, snack bar, staff, payment methods, orders and online orders. What can be done for this: </a:t>
            </a:r>
            <a:endParaRPr lang="ru-RU" dirty="0"/>
          </a:p>
          <a:p>
            <a:pPr marL="0" indent="0">
              <a:buNone/>
            </a:pPr>
            <a:r>
              <a:rPr lang="en-US" dirty="0"/>
              <a:t>1. Open SQL Server Management Studio. </a:t>
            </a:r>
            <a:endParaRPr lang="ru-RU" dirty="0"/>
          </a:p>
          <a:p>
            <a:pPr marL="0" indent="0">
              <a:buNone/>
            </a:pPr>
            <a:r>
              <a:rPr lang="en-US" dirty="0"/>
              <a:t>2. Click on the new query. Here we first create a database by attributing:</a:t>
            </a:r>
            <a:endParaRPr lang="ru-RU" dirty="0"/>
          </a:p>
          <a:p>
            <a:pPr marL="0" indent="0">
              <a:buNone/>
            </a:pPr>
            <a:r>
              <a:rPr lang="en-US" dirty="0" smtClean="0"/>
              <a:t>		create </a:t>
            </a:r>
            <a:r>
              <a:rPr lang="en-US" dirty="0"/>
              <a:t>database restaurant</a:t>
            </a:r>
            <a:endParaRPr lang="ru-RU" dirty="0"/>
          </a:p>
          <a:p>
            <a:pPr marL="0" indent="0">
              <a:buNone/>
            </a:pPr>
            <a:r>
              <a:rPr lang="en-US" dirty="0"/>
              <a:t> </a:t>
            </a:r>
            <a:endParaRPr lang="en-US" dirty="0" smtClean="0"/>
          </a:p>
          <a:p>
            <a:pPr marL="0" indent="0">
              <a:buNone/>
            </a:pPr>
            <a:r>
              <a:rPr lang="en-US" dirty="0" smtClean="0"/>
              <a:t>3</a:t>
            </a:r>
            <a:r>
              <a:rPr lang="en-US" dirty="0"/>
              <a:t>. After quickly creating the database, we start creating tables using the create table syntax </a:t>
            </a:r>
            <a:r>
              <a:rPr lang="en-US" dirty="0" err="1"/>
              <a:t>table_name</a:t>
            </a:r>
            <a:r>
              <a:rPr lang="en-US" dirty="0"/>
              <a:t>(data type column name, ...)</a:t>
            </a:r>
            <a:br>
              <a:rPr lang="en-US" dirty="0"/>
            </a:br>
            <a:endParaRPr lang="ru-RU" dirty="0"/>
          </a:p>
        </p:txBody>
      </p:sp>
      <p:sp>
        <p:nvSpPr>
          <p:cNvPr id="2" name="Заголовок 1"/>
          <p:cNvSpPr>
            <a:spLocks noGrp="1"/>
          </p:cNvSpPr>
          <p:nvPr>
            <p:ph type="title"/>
          </p:nvPr>
        </p:nvSpPr>
        <p:spPr/>
        <p:txBody>
          <a:bodyPr>
            <a:normAutofit fontScale="90000"/>
          </a:bodyPr>
          <a:lstStyle/>
          <a:p>
            <a:r>
              <a:rPr lang="en-US" dirty="0"/>
              <a:t>Moving </a:t>
            </a:r>
            <a:r>
              <a:rPr lang="en-US" sz="4900" dirty="0"/>
              <a:t>from</a:t>
            </a:r>
            <a:r>
              <a:rPr lang="en-US" dirty="0"/>
              <a:t> the ER model to database schemas</a:t>
            </a:r>
            <a:endParaRPr lang="ru-RU" dirty="0"/>
          </a:p>
        </p:txBody>
      </p:sp>
    </p:spTree>
    <p:extLst>
      <p:ext uri="{BB962C8B-B14F-4D97-AF65-F5344CB8AC3E}">
        <p14:creationId xmlns:p14="http://schemas.microsoft.com/office/powerpoint/2010/main" val="33683552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descr="C:\Users\Админ\AppData\Local\Packages\Microsoft.Windows.Photos_8wekyb3d8bbwe\TempState\ShareServiceTempFolder\2024-04-23.jpeg"/>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1797823" y="2674938"/>
            <a:ext cx="5556291" cy="3451225"/>
          </a:xfrm>
          <a:prstGeom prst="rect">
            <a:avLst/>
          </a:prstGeom>
          <a:noFill/>
          <a:ln>
            <a:noFill/>
          </a:ln>
        </p:spPr>
      </p:pic>
      <p:sp>
        <p:nvSpPr>
          <p:cNvPr id="2" name="Заголовок 1"/>
          <p:cNvSpPr>
            <a:spLocks noGrp="1"/>
          </p:cNvSpPr>
          <p:nvPr>
            <p:ph type="title"/>
          </p:nvPr>
        </p:nvSpPr>
        <p:spPr/>
        <p:txBody>
          <a:bodyPr/>
          <a:lstStyle/>
          <a:p>
            <a:r>
              <a:rPr lang="en-US" dirty="0" smtClean="0"/>
              <a:t>Database </a:t>
            </a:r>
            <a:r>
              <a:rPr lang="en-US" dirty="0" smtClean="0"/>
              <a:t>Scheme</a:t>
            </a:r>
            <a:endParaRPr lang="ru-RU" dirty="0"/>
          </a:p>
        </p:txBody>
      </p:sp>
    </p:spTree>
    <p:extLst>
      <p:ext uri="{BB962C8B-B14F-4D97-AF65-F5344CB8AC3E}">
        <p14:creationId xmlns:p14="http://schemas.microsoft.com/office/powerpoint/2010/main" val="42145122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r>
              <a:rPr lang="en-US" dirty="0"/>
              <a:t>At this stage, I have an error. Initially, when I created date strings, the </a:t>
            </a:r>
            <a:r>
              <a:rPr lang="en-US" dirty="0" err="1"/>
              <a:t>datetime</a:t>
            </a:r>
            <a:r>
              <a:rPr lang="en-US" dirty="0"/>
              <a:t> data type was char (10) NOT NULL CHECK (</a:t>
            </a:r>
            <a:r>
              <a:rPr lang="en-US" dirty="0" err="1"/>
              <a:t>odate</a:t>
            </a:r>
            <a:r>
              <a:rPr lang="en-US" dirty="0"/>
              <a:t> LIKE ‘_ _/_ _/_ _ _ _'). But then, when I tried to insert the data, a similar error occurred:</a:t>
            </a:r>
            <a:endParaRPr lang="ru-RU" dirty="0"/>
          </a:p>
        </p:txBody>
      </p:sp>
      <p:sp>
        <p:nvSpPr>
          <p:cNvPr id="2" name="Заголовок 1"/>
          <p:cNvSpPr>
            <a:spLocks noGrp="1"/>
          </p:cNvSpPr>
          <p:nvPr>
            <p:ph type="title"/>
          </p:nvPr>
        </p:nvSpPr>
        <p:spPr/>
        <p:txBody>
          <a:bodyPr>
            <a:normAutofit fontScale="90000"/>
          </a:bodyPr>
          <a:lstStyle/>
          <a:p>
            <a:r>
              <a:rPr lang="en-US" dirty="0" smtClean="0"/>
              <a:t>Moving </a:t>
            </a:r>
            <a:r>
              <a:rPr lang="en-US" sz="4900" dirty="0" smtClean="0"/>
              <a:t>from</a:t>
            </a:r>
            <a:r>
              <a:rPr lang="en-US" dirty="0" smtClean="0"/>
              <a:t> the ER model to database schemas</a:t>
            </a:r>
            <a:endParaRPr lang="ru-RU" dirty="0"/>
          </a:p>
        </p:txBody>
      </p:sp>
    </p:spTree>
    <p:extLst>
      <p:ext uri="{BB962C8B-B14F-4D97-AF65-F5344CB8AC3E}">
        <p14:creationId xmlns:p14="http://schemas.microsoft.com/office/powerpoint/2010/main" val="16514529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p:cNvPicPr>
          <p:nvPr>
            <p:ph idx="1"/>
          </p:nvPr>
        </p:nvPicPr>
        <p:blipFill>
          <a:blip r:embed="rId2"/>
          <a:stretch>
            <a:fillRect/>
          </a:stretch>
        </p:blipFill>
        <p:spPr>
          <a:xfrm>
            <a:off x="395536" y="1700808"/>
            <a:ext cx="8229600" cy="2482582"/>
          </a:xfrm>
          <a:prstGeom prst="rect">
            <a:avLst/>
          </a:prstGeom>
        </p:spPr>
      </p:pic>
      <p:sp>
        <p:nvSpPr>
          <p:cNvPr id="2" name="Заголовок 1"/>
          <p:cNvSpPr>
            <a:spLocks noGrp="1"/>
          </p:cNvSpPr>
          <p:nvPr>
            <p:ph type="title"/>
          </p:nvPr>
        </p:nvSpPr>
        <p:spPr/>
        <p:txBody>
          <a:bodyPr>
            <a:normAutofit fontScale="90000"/>
          </a:bodyPr>
          <a:lstStyle/>
          <a:p>
            <a:r>
              <a:rPr lang="en-US" dirty="0" smtClean="0"/>
              <a:t>Moving </a:t>
            </a:r>
            <a:r>
              <a:rPr lang="en-US" sz="4900" dirty="0" smtClean="0"/>
              <a:t>from</a:t>
            </a:r>
            <a:r>
              <a:rPr lang="en-US" dirty="0" smtClean="0"/>
              <a:t> the ER model to database schemas</a:t>
            </a:r>
            <a:endParaRPr lang="ru-RU" dirty="0"/>
          </a:p>
        </p:txBody>
      </p:sp>
      <p:pic>
        <p:nvPicPr>
          <p:cNvPr id="5" name="Рисунок 4"/>
          <p:cNvPicPr/>
          <p:nvPr/>
        </p:nvPicPr>
        <p:blipFill>
          <a:blip r:embed="rId3"/>
          <a:stretch>
            <a:fillRect/>
          </a:stretch>
        </p:blipFill>
        <p:spPr>
          <a:xfrm>
            <a:off x="539552" y="4365104"/>
            <a:ext cx="5940425" cy="2209165"/>
          </a:xfrm>
          <a:prstGeom prst="rect">
            <a:avLst/>
          </a:prstGeom>
        </p:spPr>
      </p:pic>
    </p:spTree>
    <p:extLst>
      <p:ext uri="{BB962C8B-B14F-4D97-AF65-F5344CB8AC3E}">
        <p14:creationId xmlns:p14="http://schemas.microsoft.com/office/powerpoint/2010/main" val="6617819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r>
              <a:rPr lang="en-US" dirty="0"/>
              <a:t>I have created a view that combines information about orders from the orders and </a:t>
            </a:r>
            <a:r>
              <a:rPr lang="en-US" dirty="0" err="1"/>
              <a:t>online_orders</a:t>
            </a:r>
            <a:r>
              <a:rPr lang="en-US" dirty="0"/>
              <a:t> tables and that gives all the information about orders. Called her </a:t>
            </a:r>
            <a:r>
              <a:rPr lang="en-US" dirty="0" err="1"/>
              <a:t>OrderDetails</a:t>
            </a:r>
            <a:r>
              <a:rPr lang="en-US" dirty="0"/>
              <a:t>.</a:t>
            </a:r>
            <a:endParaRPr lang="ru-RU" dirty="0"/>
          </a:p>
          <a:p>
            <a:endParaRPr lang="ru-RU" dirty="0"/>
          </a:p>
        </p:txBody>
      </p:sp>
      <p:sp>
        <p:nvSpPr>
          <p:cNvPr id="2" name="Заголовок 1"/>
          <p:cNvSpPr>
            <a:spLocks noGrp="1"/>
          </p:cNvSpPr>
          <p:nvPr>
            <p:ph type="title"/>
          </p:nvPr>
        </p:nvSpPr>
        <p:spPr/>
        <p:txBody>
          <a:bodyPr>
            <a:noAutofit/>
          </a:bodyPr>
          <a:lstStyle/>
          <a:p>
            <a:pPr lvl="1" algn="ctr" rtl="0">
              <a:spcBef>
                <a:spcPct val="0"/>
              </a:spcBef>
            </a:pPr>
            <a:r>
              <a:rPr lang="en-US" sz="4400" dirty="0">
                <a:latin typeface="+mj-lt"/>
              </a:rPr>
              <a:t>Creating view, indexes, triggers, </a:t>
            </a:r>
            <a:r>
              <a:rPr lang="en-US" sz="4400" dirty="0" smtClean="0">
                <a:latin typeface="+mj-lt"/>
              </a:rPr>
              <a:t>procedures</a:t>
            </a:r>
            <a:endParaRPr lang="ru-RU" sz="4400" dirty="0">
              <a:latin typeface="+mj-lt"/>
            </a:endParaRPr>
          </a:p>
        </p:txBody>
      </p:sp>
    </p:spTree>
    <p:extLst>
      <p:ext uri="{BB962C8B-B14F-4D97-AF65-F5344CB8AC3E}">
        <p14:creationId xmlns:p14="http://schemas.microsoft.com/office/powerpoint/2010/main" val="35454176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687539" y="2674938"/>
            <a:ext cx="5776860"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p:txBody>
          <a:bodyPr>
            <a:normAutofit/>
          </a:bodyPr>
          <a:lstStyle/>
          <a:p>
            <a:r>
              <a:rPr lang="en-US" dirty="0" smtClean="0"/>
              <a:t>View</a:t>
            </a:r>
            <a:endParaRPr lang="ru-RU" dirty="0"/>
          </a:p>
        </p:txBody>
      </p:sp>
    </p:spTree>
    <p:extLst>
      <p:ext uri="{BB962C8B-B14F-4D97-AF65-F5344CB8AC3E}">
        <p14:creationId xmlns:p14="http://schemas.microsoft.com/office/powerpoint/2010/main" val="40204199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77500" lnSpcReduction="20000"/>
          </a:bodyPr>
          <a:lstStyle/>
          <a:p>
            <a:r>
              <a:rPr lang="en-US" dirty="0"/>
              <a:t>The index of the </a:t>
            </a:r>
            <a:r>
              <a:rPr lang="en-US" dirty="0" err="1"/>
              <a:t>customer_id</a:t>
            </a:r>
            <a:r>
              <a:rPr lang="en-US" dirty="0"/>
              <a:t> field. This index will help speed up the operations of searching and filtering orders by customer ID.</a:t>
            </a:r>
            <a:endParaRPr lang="ru-RU" dirty="0"/>
          </a:p>
          <a:p>
            <a:endParaRPr lang="ru-RU" dirty="0"/>
          </a:p>
          <a:p>
            <a:pPr marL="0" indent="0">
              <a:buNone/>
            </a:pPr>
            <a:r>
              <a:rPr lang="en-US" dirty="0" smtClean="0"/>
              <a:t>         create </a:t>
            </a:r>
            <a:r>
              <a:rPr lang="en-US" dirty="0"/>
              <a:t>index </a:t>
            </a:r>
            <a:r>
              <a:rPr lang="en-US" dirty="0" err="1"/>
              <a:t>idx_customer_id</a:t>
            </a:r>
            <a:r>
              <a:rPr lang="en-US" dirty="0"/>
              <a:t> on </a:t>
            </a:r>
            <a:r>
              <a:rPr lang="en-US" dirty="0" err="1"/>
              <a:t>online_orders</a:t>
            </a:r>
            <a:r>
              <a:rPr lang="en-US" dirty="0"/>
              <a:t> (</a:t>
            </a:r>
            <a:r>
              <a:rPr lang="en-US" dirty="0" err="1"/>
              <a:t>customer_id</a:t>
            </a:r>
            <a:r>
              <a:rPr lang="en-US" dirty="0"/>
              <a:t>)</a:t>
            </a:r>
            <a:endParaRPr lang="ru-RU" dirty="0"/>
          </a:p>
          <a:p>
            <a:endParaRPr lang="ru-RU" dirty="0"/>
          </a:p>
          <a:p>
            <a:r>
              <a:rPr lang="en-US" dirty="0"/>
              <a:t>The index for the </a:t>
            </a:r>
            <a:r>
              <a:rPr lang="en-US" dirty="0" err="1"/>
              <a:t>payment_id</a:t>
            </a:r>
            <a:r>
              <a:rPr lang="en-US" dirty="0"/>
              <a:t> field. This index can help with transactions related to order payment methods.</a:t>
            </a:r>
            <a:endParaRPr lang="ru-RU" dirty="0"/>
          </a:p>
          <a:p>
            <a:pPr marL="0" indent="0">
              <a:buNone/>
            </a:pPr>
            <a:r>
              <a:rPr lang="en-US" dirty="0" smtClean="0"/>
              <a:t>	</a:t>
            </a:r>
            <a:endParaRPr lang="en-US" dirty="0"/>
          </a:p>
          <a:p>
            <a:pPr marL="0" indent="0">
              <a:buNone/>
            </a:pPr>
            <a:r>
              <a:rPr lang="en-US" dirty="0" smtClean="0"/>
              <a:t>	create </a:t>
            </a:r>
            <a:r>
              <a:rPr lang="en-US" dirty="0"/>
              <a:t>index </a:t>
            </a:r>
            <a:r>
              <a:rPr lang="en-US" dirty="0" err="1"/>
              <a:t>idx_payment_id</a:t>
            </a:r>
            <a:r>
              <a:rPr lang="en-US" dirty="0"/>
              <a:t> on </a:t>
            </a:r>
            <a:r>
              <a:rPr lang="en-US" dirty="0" err="1"/>
              <a:t>online_orders</a:t>
            </a:r>
            <a:r>
              <a:rPr lang="en-US" dirty="0"/>
              <a:t> (</a:t>
            </a:r>
            <a:r>
              <a:rPr lang="en-US" dirty="0" err="1"/>
              <a:t>payment_id</a:t>
            </a:r>
            <a:r>
              <a:rPr lang="en-US" dirty="0"/>
              <a:t>)</a:t>
            </a:r>
            <a:endParaRPr lang="ru-RU" dirty="0"/>
          </a:p>
          <a:p>
            <a:endParaRPr lang="ru-RU" dirty="0"/>
          </a:p>
          <a:p>
            <a:pPr marL="0" indent="0">
              <a:buNone/>
            </a:pPr>
            <a:r>
              <a:rPr lang="en-US" dirty="0" smtClean="0"/>
              <a:t>Each </a:t>
            </a:r>
            <a:r>
              <a:rPr lang="en-US" dirty="0"/>
              <a:t>of these indexes will improve the performance of queries using the corresponding fields by quickly finding and filtering data.</a:t>
            </a:r>
            <a:endParaRPr lang="ru-RU" dirty="0"/>
          </a:p>
          <a:p>
            <a:endParaRPr lang="ru-RU" dirty="0"/>
          </a:p>
        </p:txBody>
      </p:sp>
      <p:sp>
        <p:nvSpPr>
          <p:cNvPr id="2" name="Заголовок 1"/>
          <p:cNvSpPr>
            <a:spLocks noGrp="1"/>
          </p:cNvSpPr>
          <p:nvPr>
            <p:ph type="title"/>
          </p:nvPr>
        </p:nvSpPr>
        <p:spPr/>
        <p:txBody>
          <a:bodyPr/>
          <a:lstStyle/>
          <a:p>
            <a:r>
              <a:rPr lang="en-US" dirty="0" smtClean="0"/>
              <a:t>Index</a:t>
            </a:r>
            <a:endParaRPr lang="ru-RU" dirty="0"/>
          </a:p>
        </p:txBody>
      </p:sp>
    </p:spTree>
    <p:extLst>
      <p:ext uri="{BB962C8B-B14F-4D97-AF65-F5344CB8AC3E}">
        <p14:creationId xmlns:p14="http://schemas.microsoft.com/office/powerpoint/2010/main" val="42563073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r>
              <a:rPr lang="en-US" dirty="0"/>
              <a:t>I have created a trigger for the orders table that will update the total amount of the order after each update</a:t>
            </a:r>
            <a:endParaRPr lang="ru-RU" dirty="0"/>
          </a:p>
        </p:txBody>
      </p:sp>
      <p:sp>
        <p:nvSpPr>
          <p:cNvPr id="2" name="Заголовок 1"/>
          <p:cNvSpPr>
            <a:spLocks noGrp="1"/>
          </p:cNvSpPr>
          <p:nvPr>
            <p:ph type="title"/>
          </p:nvPr>
        </p:nvSpPr>
        <p:spPr/>
        <p:txBody>
          <a:bodyPr/>
          <a:lstStyle/>
          <a:p>
            <a:r>
              <a:rPr lang="en-US" dirty="0" smtClean="0"/>
              <a:t>Trigger</a:t>
            </a:r>
            <a:endParaRPr lang="ru-RU" dirty="0"/>
          </a:p>
        </p:txBody>
      </p:sp>
    </p:spTree>
    <p:extLst>
      <p:ext uri="{BB962C8B-B14F-4D97-AF65-F5344CB8AC3E}">
        <p14:creationId xmlns:p14="http://schemas.microsoft.com/office/powerpoint/2010/main" val="39993864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71538" y="2851425"/>
            <a:ext cx="7408862" cy="3098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p:txBody>
          <a:bodyPr/>
          <a:lstStyle/>
          <a:p>
            <a:r>
              <a:rPr lang="en-US" dirty="0" smtClean="0"/>
              <a:t>Trigger</a:t>
            </a:r>
            <a:endParaRPr lang="ru-RU" dirty="0"/>
          </a:p>
        </p:txBody>
      </p:sp>
    </p:spTree>
    <p:extLst>
      <p:ext uri="{BB962C8B-B14F-4D97-AF65-F5344CB8AC3E}">
        <p14:creationId xmlns:p14="http://schemas.microsoft.com/office/powerpoint/2010/main" val="32931081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92500" lnSpcReduction="20000"/>
          </a:bodyPr>
          <a:lstStyle/>
          <a:p>
            <a:r>
              <a:rPr lang="en-US" dirty="0"/>
              <a:t>The first stored procedure is the menu. I did it for two reasons. The first is to restrict access to data. I have restricted access to menu data only through certain access points, for example, through a stored procedure. This helps to manage security and prevent direct access to database tables.</a:t>
            </a:r>
            <a:endParaRPr lang="ru-RU" dirty="0"/>
          </a:p>
          <a:p>
            <a:r>
              <a:rPr lang="en-US" dirty="0"/>
              <a:t>And the second is performance improvement. In the case of large amounts of data or high load on the database server, performing server-side operations using stored procedures can lead to improved performance and efficiency of the application.</a:t>
            </a:r>
            <a:br>
              <a:rPr lang="en-US" dirty="0"/>
            </a:br>
            <a:endParaRPr lang="ru-RU" dirty="0"/>
          </a:p>
        </p:txBody>
      </p:sp>
      <p:sp>
        <p:nvSpPr>
          <p:cNvPr id="2" name="Заголовок 1"/>
          <p:cNvSpPr>
            <a:spLocks noGrp="1"/>
          </p:cNvSpPr>
          <p:nvPr>
            <p:ph type="title"/>
          </p:nvPr>
        </p:nvSpPr>
        <p:spPr/>
        <p:txBody>
          <a:bodyPr/>
          <a:lstStyle/>
          <a:p>
            <a:r>
              <a:rPr lang="en-US" dirty="0" smtClean="0"/>
              <a:t>Stored Procedure</a:t>
            </a:r>
            <a:endParaRPr lang="ru-RU" dirty="0"/>
          </a:p>
        </p:txBody>
      </p:sp>
    </p:spTree>
    <p:extLst>
      <p:ext uri="{BB962C8B-B14F-4D97-AF65-F5344CB8AC3E}">
        <p14:creationId xmlns:p14="http://schemas.microsoft.com/office/powerpoint/2010/main" val="10035605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19897" y="2674938"/>
            <a:ext cx="5712143"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p:txBody>
          <a:bodyPr/>
          <a:lstStyle/>
          <a:p>
            <a:r>
              <a:rPr lang="en-US" dirty="0" smtClean="0"/>
              <a:t>Stored Procedure Menu</a:t>
            </a:r>
            <a:endParaRPr lang="ru-RU" dirty="0"/>
          </a:p>
        </p:txBody>
      </p:sp>
    </p:spTree>
    <p:extLst>
      <p:ext uri="{BB962C8B-B14F-4D97-AF65-F5344CB8AC3E}">
        <p14:creationId xmlns:p14="http://schemas.microsoft.com/office/powerpoint/2010/main" val="18967017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71538" y="2819226"/>
            <a:ext cx="7408862" cy="3162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p:txBody>
          <a:bodyPr/>
          <a:lstStyle/>
          <a:p>
            <a:r>
              <a:rPr lang="en-US" dirty="0" smtClean="0"/>
              <a:t>Stored Procedure Menu</a:t>
            </a:r>
            <a:endParaRPr lang="ru-RU" dirty="0"/>
          </a:p>
        </p:txBody>
      </p:sp>
    </p:spTree>
    <p:extLst>
      <p:ext uri="{BB962C8B-B14F-4D97-AF65-F5344CB8AC3E}">
        <p14:creationId xmlns:p14="http://schemas.microsoft.com/office/powerpoint/2010/main" val="10578926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r>
              <a:rPr lang="en-US" dirty="0"/>
              <a:t>The second stored procedure is the purchase analytics for Orders. I did it for three reasons. The first two are described above, and the last one is the frequency and volume of data. When my restaurant has a large number of transactions and purchase data is updated frequently, using a stored procedure can help ensure quick access to data and efficient execution of analytical queries.</a:t>
            </a:r>
            <a:endParaRPr lang="ru-RU" dirty="0"/>
          </a:p>
          <a:p>
            <a:endParaRPr lang="ru-RU" dirty="0"/>
          </a:p>
        </p:txBody>
      </p:sp>
      <p:sp>
        <p:nvSpPr>
          <p:cNvPr id="2" name="Заголовок 1"/>
          <p:cNvSpPr>
            <a:spLocks noGrp="1"/>
          </p:cNvSpPr>
          <p:nvPr>
            <p:ph type="title"/>
          </p:nvPr>
        </p:nvSpPr>
        <p:spPr/>
        <p:txBody>
          <a:bodyPr/>
          <a:lstStyle/>
          <a:p>
            <a:r>
              <a:rPr lang="en-US" dirty="0" smtClean="0"/>
              <a:t>Stored Procedure </a:t>
            </a:r>
            <a:r>
              <a:rPr lang="en-US" dirty="0" err="1" smtClean="0"/>
              <a:t>sales_analytics</a:t>
            </a:r>
            <a:endParaRPr lang="ru-RU" dirty="0"/>
          </a:p>
        </p:txBody>
      </p:sp>
    </p:spTree>
    <p:extLst>
      <p:ext uri="{BB962C8B-B14F-4D97-AF65-F5344CB8AC3E}">
        <p14:creationId xmlns:p14="http://schemas.microsoft.com/office/powerpoint/2010/main" val="13316544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79322" y="2674938"/>
            <a:ext cx="6193294"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p:txBody>
          <a:bodyPr/>
          <a:lstStyle/>
          <a:p>
            <a:r>
              <a:rPr lang="en-US" dirty="0" smtClean="0"/>
              <a:t>Stored Procedure </a:t>
            </a:r>
            <a:r>
              <a:rPr lang="en-US" dirty="0" err="1"/>
              <a:t>sales_analytics</a:t>
            </a:r>
            <a:endParaRPr lang="ru-RU" dirty="0"/>
          </a:p>
        </p:txBody>
      </p:sp>
    </p:spTree>
    <p:extLst>
      <p:ext uri="{BB962C8B-B14F-4D97-AF65-F5344CB8AC3E}">
        <p14:creationId xmlns:p14="http://schemas.microsoft.com/office/powerpoint/2010/main" val="36576492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261071" y="3152601"/>
            <a:ext cx="4629796" cy="2495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p:txBody>
          <a:bodyPr/>
          <a:lstStyle/>
          <a:p>
            <a:r>
              <a:rPr lang="en-US" dirty="0" smtClean="0"/>
              <a:t>Stored Procedure </a:t>
            </a:r>
            <a:r>
              <a:rPr lang="en-US" dirty="0" err="1" smtClean="0"/>
              <a:t>sales_analytics</a:t>
            </a:r>
            <a:endParaRPr lang="ru-RU" dirty="0"/>
          </a:p>
        </p:txBody>
      </p:sp>
    </p:spTree>
    <p:extLst>
      <p:ext uri="{BB962C8B-B14F-4D97-AF65-F5344CB8AC3E}">
        <p14:creationId xmlns:p14="http://schemas.microsoft.com/office/powerpoint/2010/main" val="40371635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r>
              <a:rPr lang="en-US" dirty="0"/>
              <a:t>And the last stored procedure is the purchase analytics for Online Orders.</a:t>
            </a:r>
            <a:br>
              <a:rPr lang="en-US" dirty="0"/>
            </a:br>
            <a:endParaRPr lang="ru-RU" dirty="0"/>
          </a:p>
        </p:txBody>
      </p:sp>
      <p:sp>
        <p:nvSpPr>
          <p:cNvPr id="2" name="Заголовок 1"/>
          <p:cNvSpPr>
            <a:spLocks noGrp="1"/>
          </p:cNvSpPr>
          <p:nvPr>
            <p:ph type="title"/>
          </p:nvPr>
        </p:nvSpPr>
        <p:spPr/>
        <p:txBody>
          <a:bodyPr>
            <a:normAutofit fontScale="90000"/>
          </a:bodyPr>
          <a:lstStyle/>
          <a:p>
            <a:r>
              <a:rPr lang="en-US" dirty="0" smtClean="0"/>
              <a:t>Stored Procedure </a:t>
            </a:r>
            <a:r>
              <a:rPr lang="en-US" dirty="0" err="1" smtClean="0"/>
              <a:t>sales_analytics_online</a:t>
            </a:r>
            <a:endParaRPr lang="ru-RU" dirty="0"/>
          </a:p>
        </p:txBody>
      </p:sp>
    </p:spTree>
    <p:extLst>
      <p:ext uri="{BB962C8B-B14F-4D97-AF65-F5344CB8AC3E}">
        <p14:creationId xmlns:p14="http://schemas.microsoft.com/office/powerpoint/2010/main" val="18793871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803927" y="2674938"/>
            <a:ext cx="5544083"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p:txBody>
          <a:bodyPr>
            <a:normAutofit fontScale="90000"/>
          </a:bodyPr>
          <a:lstStyle/>
          <a:p>
            <a:r>
              <a:rPr lang="en-US" dirty="0" smtClean="0"/>
              <a:t>Stored Procedure </a:t>
            </a:r>
            <a:r>
              <a:rPr lang="en-US" dirty="0" err="1" smtClean="0"/>
              <a:t>sales_analytics_online</a:t>
            </a:r>
            <a:endParaRPr lang="ru-RU" dirty="0"/>
          </a:p>
        </p:txBody>
      </p:sp>
    </p:spTree>
    <p:extLst>
      <p:ext uri="{BB962C8B-B14F-4D97-AF65-F5344CB8AC3E}">
        <p14:creationId xmlns:p14="http://schemas.microsoft.com/office/powerpoint/2010/main" val="17766589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916832"/>
            <a:ext cx="6220701" cy="3732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Заголовок 1"/>
          <p:cNvSpPr>
            <a:spLocks noGrp="1"/>
          </p:cNvSpPr>
          <p:nvPr>
            <p:ph type="title"/>
          </p:nvPr>
        </p:nvSpPr>
        <p:spPr/>
        <p:txBody>
          <a:bodyPr>
            <a:normAutofit fontScale="90000"/>
          </a:bodyPr>
          <a:lstStyle/>
          <a:p>
            <a:r>
              <a:rPr lang="en-US" dirty="0" smtClean="0"/>
              <a:t>Stored Procedure </a:t>
            </a:r>
            <a:r>
              <a:rPr lang="en-US" dirty="0" err="1" smtClean="0"/>
              <a:t>sales_analytics_online</a:t>
            </a:r>
            <a:endParaRPr lang="ru-RU" dirty="0"/>
          </a:p>
        </p:txBody>
      </p:sp>
    </p:spTree>
    <p:extLst>
      <p:ext uri="{BB962C8B-B14F-4D97-AF65-F5344CB8AC3E}">
        <p14:creationId xmlns:p14="http://schemas.microsoft.com/office/powerpoint/2010/main" val="24224105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55000" lnSpcReduction="20000"/>
          </a:bodyPr>
          <a:lstStyle/>
          <a:p>
            <a:pPr marL="0" indent="0">
              <a:buNone/>
            </a:pPr>
            <a:endParaRPr lang="ru-RU" dirty="0"/>
          </a:p>
          <a:p>
            <a:r>
              <a:rPr lang="kk-KZ" dirty="0"/>
              <a:t>In conclusion, it is safe to say that the restaurant business is in a constant state of development and change. Nowadays, when technology plays a key role in everyday life, its introduction into the restaurant business is becoming a necessity, not just a fashion trend. Automating routine processes such as product accounting, order processing, and personnel management frees up valuable time for employees, allowing them to focus on more important tasks such as quality customer service.</a:t>
            </a:r>
            <a:endParaRPr lang="ru-RU" dirty="0"/>
          </a:p>
          <a:p>
            <a:endParaRPr lang="ru-RU" dirty="0"/>
          </a:p>
          <a:p>
            <a:r>
              <a:rPr lang="kk-KZ" dirty="0"/>
              <a:t>Moreover, automation not only simplifies the life of the staff, but also increases the efficiency of the entire enterprise. Electronic warehouse and order management systems help reduce waiting and order processing time, which in turn improves the overall quality of service and customer satisfaction.</a:t>
            </a:r>
            <a:endParaRPr lang="ru-RU" dirty="0"/>
          </a:p>
          <a:p>
            <a:endParaRPr lang="ru-RU" dirty="0"/>
          </a:p>
          <a:p>
            <a:r>
              <a:rPr lang="kk-KZ" dirty="0"/>
              <a:t>Finally, automation also helps to reduce operating costs and minimize the human factor in the maintenance process. This makes the restaurant business more resilient to changes in external conditions and more competitive in the market.</a:t>
            </a:r>
            <a:endParaRPr lang="ru-RU" dirty="0"/>
          </a:p>
          <a:p>
            <a:endParaRPr lang="ru-RU" dirty="0"/>
          </a:p>
          <a:p>
            <a:r>
              <a:rPr lang="kk-KZ" dirty="0"/>
              <a:t>Thus, the introduction of technology and automation of routine in the restaurant business play a key role in ensuring its success and prosperity in the modern world.</a:t>
            </a:r>
            <a:endParaRPr lang="ru-RU" dirty="0"/>
          </a:p>
          <a:p>
            <a:endParaRPr lang="ru-RU" dirty="0"/>
          </a:p>
        </p:txBody>
      </p:sp>
      <p:sp>
        <p:nvSpPr>
          <p:cNvPr id="2" name="Заголовок 1"/>
          <p:cNvSpPr>
            <a:spLocks noGrp="1"/>
          </p:cNvSpPr>
          <p:nvPr>
            <p:ph type="title"/>
          </p:nvPr>
        </p:nvSpPr>
        <p:spPr/>
        <p:txBody>
          <a:bodyPr>
            <a:normAutofit/>
          </a:bodyPr>
          <a:lstStyle/>
          <a:p>
            <a:r>
              <a:rPr lang="en-US" dirty="0" smtClean="0"/>
              <a:t>Conclusion</a:t>
            </a:r>
            <a:endParaRPr lang="ru-RU" dirty="0"/>
          </a:p>
        </p:txBody>
      </p:sp>
    </p:spTree>
    <p:extLst>
      <p:ext uri="{BB962C8B-B14F-4D97-AF65-F5344CB8AC3E}">
        <p14:creationId xmlns:p14="http://schemas.microsoft.com/office/powerpoint/2010/main" val="2217248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fontScale="62500" lnSpcReduction="20000"/>
          </a:bodyPr>
          <a:lstStyle/>
          <a:p>
            <a:pPr marL="514350" lvl="0" indent="-514350">
              <a:buFont typeface="+mj-lt"/>
              <a:buAutoNum type="arabicPeriod"/>
            </a:pPr>
            <a:r>
              <a:rPr lang="en-US" dirty="0" err="1"/>
              <a:t>Ramez</a:t>
            </a:r>
            <a:r>
              <a:rPr lang="en-US" dirty="0"/>
              <a:t> </a:t>
            </a:r>
            <a:r>
              <a:rPr lang="en-US" dirty="0" err="1"/>
              <a:t>Elmasri</a:t>
            </a:r>
            <a:r>
              <a:rPr lang="en-US" dirty="0"/>
              <a:t>. </a:t>
            </a:r>
            <a:r>
              <a:rPr lang="en-US" dirty="0" err="1"/>
              <a:t>Shamkant</a:t>
            </a:r>
            <a:r>
              <a:rPr lang="en-US" dirty="0"/>
              <a:t> B. </a:t>
            </a:r>
            <a:r>
              <a:rPr lang="en-US" dirty="0" err="1"/>
              <a:t>Navathe</a:t>
            </a:r>
            <a:r>
              <a:rPr lang="en-US" dirty="0"/>
              <a:t>. FUNDAMENTALS OF Database Systems SEVENTH EDITION: book-2016-1239p</a:t>
            </a:r>
            <a:endParaRPr lang="ru-RU" dirty="0"/>
          </a:p>
          <a:p>
            <a:pPr marL="514350" lvl="0" indent="-514350">
              <a:buFont typeface="+mj-lt"/>
              <a:buAutoNum type="arabicPeriod"/>
            </a:pPr>
            <a:r>
              <a:rPr lang="en-US" dirty="0"/>
              <a:t>Barkov I.A. - Object-oriented programming: textbook - Lan Publishing House - 2019-- ISBN: 978-5-8114-3586-9 - Electronic text // EBS Lan - URL: https://e.lanbook.com/book/119661</a:t>
            </a:r>
            <a:endParaRPr lang="ru-RU" b="1" dirty="0"/>
          </a:p>
          <a:p>
            <a:pPr marL="514350" lvl="0" indent="-514350">
              <a:buFont typeface="+mj-lt"/>
              <a:buAutoNum type="arabicPeriod"/>
            </a:pPr>
            <a:r>
              <a:rPr lang="en-US" dirty="0" err="1"/>
              <a:t>Ivanova</a:t>
            </a:r>
            <a:r>
              <a:rPr lang="en-US" dirty="0"/>
              <a:t> G.S. Programming technology: textbook / </a:t>
            </a:r>
            <a:r>
              <a:rPr lang="en-US" dirty="0" err="1"/>
              <a:t>Ivanova</a:t>
            </a:r>
            <a:r>
              <a:rPr lang="en-US" dirty="0"/>
              <a:t> G.S. — Moscow: </a:t>
            </a:r>
            <a:r>
              <a:rPr lang="en-US" dirty="0" err="1"/>
              <a:t>KnoRus</a:t>
            </a:r>
            <a:r>
              <a:rPr lang="en-US" dirty="0"/>
              <a:t>, 2018. — 333 p. — (for bachelors). — ISBN 978-5-406-06109-1. — URL: https://book.ru/book/926372 (date of access: 10/10/2019). — Text: electronic. </a:t>
            </a:r>
            <a:endParaRPr lang="ru-RU" b="1" dirty="0"/>
          </a:p>
          <a:p>
            <a:pPr marL="514350" lvl="0" indent="-514350">
              <a:buFont typeface="+mj-lt"/>
              <a:buAutoNum type="arabicPeriod"/>
            </a:pPr>
            <a:r>
              <a:rPr lang="en-US" dirty="0"/>
              <a:t>C.J. Date. SQL and Relational Theory: How to Write Accurate SQL Code: textbook – 2009 – 432p</a:t>
            </a:r>
            <a:endParaRPr lang="ru-RU" dirty="0"/>
          </a:p>
          <a:p>
            <a:pPr marL="514350" lvl="0" indent="-514350">
              <a:buFont typeface="+mj-lt"/>
              <a:buAutoNum type="arabicPeriod"/>
            </a:pPr>
            <a:r>
              <a:rPr lang="en-US" dirty="0"/>
              <a:t>Joshua M. Stiglitz. SQL Programming &amp; Database Management For Noobs: textbook – 2016 – 194p</a:t>
            </a:r>
            <a:endParaRPr lang="ru-RU" dirty="0"/>
          </a:p>
          <a:p>
            <a:pPr marL="514350" lvl="0" indent="-514350">
              <a:buFont typeface="+mj-lt"/>
              <a:buAutoNum type="arabicPeriod"/>
            </a:pPr>
            <a:r>
              <a:rPr lang="en-US" u="sng" dirty="0">
                <a:hlinkClick r:id="rId2"/>
              </a:rPr>
              <a:t>Sergey </a:t>
            </a:r>
            <a:r>
              <a:rPr lang="en-US" u="sng" dirty="0" err="1">
                <a:hlinkClick r:id="rId2"/>
              </a:rPr>
              <a:t>Skudaev</a:t>
            </a:r>
            <a:r>
              <a:rPr lang="en-US" dirty="0"/>
              <a:t>. Learn SQL by Examples: Examples of SQL Queries and Stored Procedures for MySQL and Oracle: textbook – 2012 – ISBN: 1546996346</a:t>
            </a:r>
            <a:endParaRPr lang="ru-RU" dirty="0"/>
          </a:p>
          <a:p>
            <a:pPr marL="514350" indent="-514350">
              <a:buFont typeface="+mj-lt"/>
              <a:buAutoNum type="arabicPeriod"/>
            </a:pPr>
            <a:r>
              <a:rPr lang="kk-KZ" dirty="0"/>
              <a:t> </a:t>
            </a:r>
            <a:endParaRPr lang="ru-RU" dirty="0"/>
          </a:p>
          <a:p>
            <a:endParaRPr lang="ru-RU" dirty="0"/>
          </a:p>
        </p:txBody>
      </p:sp>
      <p:sp>
        <p:nvSpPr>
          <p:cNvPr id="2" name="Заголовок 1"/>
          <p:cNvSpPr>
            <a:spLocks noGrp="1"/>
          </p:cNvSpPr>
          <p:nvPr>
            <p:ph type="title"/>
          </p:nvPr>
        </p:nvSpPr>
        <p:spPr/>
        <p:txBody>
          <a:bodyPr>
            <a:normAutofit/>
          </a:bodyPr>
          <a:lstStyle/>
          <a:p>
            <a:r>
              <a:rPr lang="kk-KZ" dirty="0" smtClean="0"/>
              <a:t>Bibliography</a:t>
            </a:r>
            <a:endParaRPr lang="ru-RU" dirty="0"/>
          </a:p>
        </p:txBody>
      </p:sp>
    </p:spTree>
    <p:extLst>
      <p:ext uri="{BB962C8B-B14F-4D97-AF65-F5344CB8AC3E}">
        <p14:creationId xmlns:p14="http://schemas.microsoft.com/office/powerpoint/2010/main" val="28619369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78</TotalTime>
  <Words>1398</Words>
  <Application>Microsoft Office PowerPoint</Application>
  <PresentationFormat>Экран (4:3)</PresentationFormat>
  <Paragraphs>97</Paragraphs>
  <Slides>28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28</vt:i4>
      </vt:variant>
    </vt:vector>
  </HeadingPairs>
  <TitlesOfParts>
    <vt:vector size="29" baseType="lpstr">
      <vt:lpstr>Волна</vt:lpstr>
      <vt:lpstr>Creation of a Database “Information system automation of restaurant work”</vt:lpstr>
      <vt:lpstr>Intoduction</vt:lpstr>
      <vt:lpstr>Characteristics of the subject area </vt:lpstr>
      <vt:lpstr>Data volume and structure</vt:lpstr>
      <vt:lpstr>entity-relationship diagram</vt:lpstr>
      <vt:lpstr>entity-relationship diagram</vt:lpstr>
      <vt:lpstr>Reduction to normal forms</vt:lpstr>
      <vt:lpstr>Moving from the ER model to database schemas</vt:lpstr>
      <vt:lpstr>Moving from the ER model to database schemas</vt:lpstr>
      <vt:lpstr>Database Scheme</vt:lpstr>
      <vt:lpstr>Moving from the ER model to database schemas</vt:lpstr>
      <vt:lpstr>Moving from the ER model to database schemas</vt:lpstr>
      <vt:lpstr>Creating view, indexes, triggers, procedures</vt:lpstr>
      <vt:lpstr>View</vt:lpstr>
      <vt:lpstr>Index</vt:lpstr>
      <vt:lpstr>Trigger</vt:lpstr>
      <vt:lpstr>Trigger</vt:lpstr>
      <vt:lpstr>Stored Procedure</vt:lpstr>
      <vt:lpstr>Stored Procedure Menu</vt:lpstr>
      <vt:lpstr>Stored Procedure Menu</vt:lpstr>
      <vt:lpstr>Stored Procedure sales_analytics</vt:lpstr>
      <vt:lpstr>Stored Procedure sales_analytics</vt:lpstr>
      <vt:lpstr>Stored Procedure sales_analytics</vt:lpstr>
      <vt:lpstr>Stored Procedure sales_analytics_online</vt:lpstr>
      <vt:lpstr>Stored Procedure sales_analytics_online</vt:lpstr>
      <vt:lpstr>Stored Procedure sales_analytics_online</vt:lpstr>
      <vt:lpstr>Conclusion</vt:lpstr>
      <vt:lpstr>Bibliography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Creation of a Database “Information system automation of restaurant work”</dc:title>
  <dc:creator>Админ</dc:creator>
  <cp:lastModifiedBy>Админ</cp:lastModifiedBy>
  <cp:revision>7</cp:revision>
  <dcterms:created xsi:type="dcterms:W3CDTF">2024-04-23T09:45:03Z</dcterms:created>
  <dcterms:modified xsi:type="dcterms:W3CDTF">2024-04-23T15:00:57Z</dcterms:modified>
</cp:coreProperties>
</file>